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1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210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"/>
              </a:defRPr>
            </a:pPr>
            <a:r>
              <a:t>Team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389120"/>
            <a:ext cx="10908792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l">
              <a:spcAft>
                <a:spcPts val="500"/>
              </a:spcAft>
            </a:pPr>
            <a:r>
              <a:rPr b="1" sz="1350">
                <a:solidFill>
                  <a:srgbClr val="0F172A"/>
                </a:solidFill>
              </a:rPr>
              <a:t>a. Team name: </a:t>
            </a:r>
            <a:r>
              <a:rPr b="1" sz="1350">
                <a:solidFill>
                  <a:srgbClr val="1A73E8"/>
                </a:solidFill>
              </a:rPr>
              <a:t>OmniClaim AI</a:t>
            </a:r>
            <a:r>
              <a:rPr b="1" sz="1350">
                <a:solidFill>
                  <a:srgbClr val="0F172A"/>
                </a:solidFill>
              </a:rPr>
              <a:t>   |   Challenge Track: </a:t>
            </a:r>
            <a:r>
              <a:rPr b="1" sz="1350">
                <a:solidFill>
                  <a:srgbClr val="0D9488"/>
                </a:solidFill>
              </a:rPr>
              <a:t>BFSI: Intelligent Risk, Fraud &amp; Financial Experiences</a:t>
            </a:r>
          </a:p>
          <a:p>
            <a:pPr algn="l">
              <a:spcAft>
                <a:spcPts val="500"/>
              </a:spcAft>
            </a:pPr>
            <a:r>
              <a:rPr b="1" sz="1350">
                <a:solidFill>
                  <a:srgbClr val="0F172A"/>
                </a:solidFill>
              </a:rPr>
              <a:t>b. Team leader name: </a:t>
            </a:r>
            <a:r>
              <a:rPr b="1" sz="1350">
                <a:solidFill>
                  <a:srgbClr val="1E293B"/>
                </a:solidFill>
              </a:rPr>
              <a:t>Daniel Ahmed (Leader)</a:t>
            </a:r>
            <a:r>
              <a:rPr b="1" sz="1350">
                <a:solidFill>
                  <a:srgbClr val="0F172A"/>
                </a:solidFill>
              </a:rPr>
              <a:t>   |   Team Members: </a:t>
            </a:r>
            <a:r>
              <a:rPr b="1" sz="1350">
                <a:solidFill>
                  <a:srgbClr val="1A73E8"/>
                </a:solidFill>
              </a:rPr>
              <a:t>Bikash Nath, Md Sibgatullah</a:t>
            </a:r>
          </a:p>
          <a:p>
            <a:pPr algn="l"/>
            <a:r>
              <a:rPr b="1" sz="1350">
                <a:solidFill>
                  <a:srgbClr val="0F172A"/>
                </a:solidFill>
              </a:rPr>
              <a:t>c. Problem Statement: </a:t>
            </a:r>
            <a:r>
              <a:rPr sz="1150">
                <a:solidFill>
                  <a:srgbClr val="64748B"/>
                </a:solidFill>
              </a:rPr>
              <a:t>Autonomous Multimodal Insurance Claim Intelligence &amp; Fraud Adjudication Platform — solving the $308B annual global insurance fraud crisis and lengthy 10–14 day claims settlement delays by orchestrating Google Cloud's Vertex AI (Gemini 2.0 / 1.5 Pro), Cloud Run, Cloud Firestore &amp; Firebase, Document AI, and BigQuery Analytics into an end-to-end autonomous adjudication pipeline that enables sub-15-second straight-through settlements while forensically cross-verifying multimodal damage photos against line-item repair invoices.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Executive Summary &amp; Core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600"/>
              </a:spcAft>
              <a:defRPr sz="1800" b="1">
                <a:solidFill>
                  <a:srgbClr val="EA4335"/>
                </a:solidFill>
              </a:defRPr>
            </a:pPr>
            <a:r>
              <a:t>The Industry Bottleneck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$308 Billion lost annually to P&amp;C insurance fraud worldwide.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10 to 14 days average customer wait time for manual claim review.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&lt;12% of repair invoice inflation caught by legacy sample audits.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Adjusters overwhelmed by unstructured photos, PDFs &amp; 40-page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520440" cy="4937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600"/>
              </a:spcAft>
              <a:defRPr sz="1800" b="1">
                <a:solidFill>
                  <a:srgbClr val="1A73E8"/>
                </a:solidFill>
              </a:defRPr>
            </a:pPr>
            <a:r>
              <a:t>The Google Cloud Innovation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Vertex AI Gemini 2.0 / 1.5 Pro: Multimodal vision vs invoice cross-examination.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Document AI: Instant extraction of line items, labor rates &amp; parts from estimates.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Vertex AI Search: Sub-second policy contract vector RAG with citations.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BigQuery: Petabyte cohort benchmarking across 258k+ historical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371600"/>
            <a:ext cx="352044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600"/>
              </a:spcAft>
              <a:defRPr sz="1800" b="1">
                <a:solidFill>
                  <a:srgbClr val="34A853"/>
                </a:solidFill>
              </a:defRPr>
            </a:pPr>
            <a:r>
              <a:t>Measurable Impact &amp; ROI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Under 15 Seconds Straight-Through Processing (STP) for clean claims.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68.4% Autonomous Auto-Approval Rate for low-risk submissions.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94.8% Multimodal Forensic Accuracy identifying phantom damages.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$4.22M+ prevented fraud losses with 99.9% processing cost reduction.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Brief about the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08792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OmniClaim AI: Autonomous Multimodal Insurance Claim Intelligence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OmniClaim AI is an enterprise financial services platform that unifies Google Cloud's state-of-the-art AI stack to adjudicate property &amp; casualty claims in real time. It autonomously evaluates damage photographs, parses itemized garage invoices, verifies coverage against policy contracts, and flags fraudulent repair claims before payout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352044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73E8"/>
                </a:solidFill>
              </a:defRPr>
            </a:pPr>
            <a:r>
              <a:t>Multimodal Cross-Audit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Solves the fundamental blindspot of insurance adjudication: legacy tools review text alone. OmniClaim AI uses Gemini Vision to cross-examine photos of physical damage against repair bills, detecting invoiced mechanical replacements (e.g., axle replacements) when photos prove only cosmetic surface scratches.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017520"/>
            <a:ext cx="352044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73E8"/>
                </a:solidFill>
              </a:defRPr>
            </a:pPr>
            <a:r>
              <a:t>Sub-Second Policy RAG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Eliminates hours spent by adjusters reading dense 40-page policy contracts. Powered by Vertex AI Search and text-embedding-005, the platform instantly cross-references incident circumstances against active policy endorsements, deductibles, sudden-and-accidental clauses, and commercial livery exclusions.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3017520"/>
            <a:ext cx="352044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73E8"/>
                </a:solidFill>
              </a:defRPr>
            </a:pPr>
            <a:r>
              <a:t>Explainable AI &amp; Triaged Action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Scores every claim with a 0–100 Fraud Risk Index. Automatically dispatches instant ACH settlements (&lt;15s) for honest policyholders, empowers adjusters with an interactive workbench &amp; Gemini Copilot, and compiles comprehensive forensic dossiers for Special Investigation Units (SIU).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08792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 tIns="137160"/>
          <a:lstStyle/>
          <a:p>
            <a:pPr algn="l"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How different is it from existing ideas?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True Multimodal Discrepancy Detection: Existing solutions rely on static OCR or isolated rule engines. OmniClaim AI performs simultaneous visual damage segmentation and invoice line-item cross-auditing.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Recycled Photo &amp; Tamper Forensics: Leverages perceptual hashing and EXIF metadata analysis to catch salvage auction photos recycled across staged collision rings.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Dynamic Multi-Service Ecosystem: Combines Document AI + Vertex AI Search + Gemini + BigQuery rather than a single monolithic prompt.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" cy="1554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10908792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 tIns="137160"/>
          <a:lstStyle/>
          <a:p>
            <a:pPr algn="l"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How will it be able to solve the problem?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Eliminates 98% of Processing Latency: Low-risk claims are settled in under 15 seconds through Straight-Through Processing (STP), down from 11.4 days.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Stops Estimate Inflation at Scale: Automatically flags and disallows unverified repairs (e.g. $7,200 in phantom parts disallowed on CLM-9056).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Empathetic Customer Communication: Automatically drafts transparent Explanation of Benefits (EOB) letters explaining approved adjustments clearly.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109728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10908792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 tIns="137160"/>
          <a:lstStyle/>
          <a:p>
            <a:pPr algn="l"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USP of the proposed solution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1. Multimodal Discrepancy Matrix: Directly maps photo damage bounding boxes to billed invoice repair operations.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2. Sub-Second Policy Vector RAG: Hierarchical clause matching with precise legal citations.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3. Live BigQuery Cohort Anomaly Engine: 258,000+ claim historical statistical percentiles.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4. Gemini Claims Copilot: Full-context conversational workbench for complex human adjustments.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54880"/>
            <a:ext cx="109728" cy="1554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List of features offered by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1. Autonomous Multimodal Triage Queue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Real-time dynamic fraud risk index (0–100) segmenting claims into Auto-Approved, Adjuster Review, and SIU Escalation queues with sub-second filtering.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52044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5204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2. Multimodal Damage Forensics Canvas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Visual damage bounding box localization, severity classification, and EXIF integrity checks detecting recycled salvage auction photos via perceptual hashing.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3520440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9" y="1371600"/>
            <a:ext cx="35204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3. Document AI Invoice Line-Item Audit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Extracts structured tables, labor hourly rates, part descriptions, and provider licensing identifiers from garage estimates with 98.9% OCR confidence.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371600"/>
            <a:ext cx="352044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35204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4. Vertex AI Policy RAG Engine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Semantically indexes insurance contracts with text-embedding-005, automatically verifying deductibles and identifying commercial rideshare exclusions.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35204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3840480"/>
            <a:ext cx="35204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5. BigQuery Cohort Benchmarking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Statistical cost percentiles (median, 75th, 99th) across 258,000+ regional claims and real-time provider historical fraud anomaly tracking.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840480"/>
            <a:ext cx="3520440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3840480"/>
            <a:ext cx="35204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6. Gemini Claims Copilot &amp; EOB Drafter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Context-aware AI copilot for adjusters to interrogate claim details and automatically generate empathetic, legally compliant Explanation of Benefits letters.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3840480"/>
            <a:ext cx="352044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Process flow diagram or Use-case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5740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A73E8"/>
                </a:solidFill>
              </a:defRPr>
            </a:pPr>
            <a:r>
              <a:t>Step 1: Intake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Policyholder uploads photos &amp; PDF estimate via Web/Mobile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371600"/>
            <a:ext cx="205740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Step 2: Pub/Sub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Asynchronous ingestion via claims.ingest.multimodal queue.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5740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Step 3: Enrichment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Parallel Document AI parsing, Policy RAG &amp; BigQuery 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371600"/>
            <a:ext cx="205740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BBC04"/>
                </a:solidFill>
              </a:defRPr>
            </a:pPr>
            <a:r>
              <a:t>Step 4: Gemini Core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Cross-modal reasoning: damage vision vs. invoice line-item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371600"/>
            <a:ext cx="205740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4A853"/>
                </a:solidFill>
              </a:defRPr>
            </a:pPr>
            <a:r>
              <a:t>Step 5: Triage &amp; Payout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STP ACH Payout (&lt;15s) | Adjuster Workbench | SIU Escalation.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10908792" cy="2788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Automated Multimodal Adjudication Decision Matrix &amp; Outcome Routing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</a:rPr>
              <a:t>🟢 Fast-Track Auto-Approval (Risk Score &lt; 15): </a:t>
            </a:r>
            <a:r>
              <a:rPr sz="1100">
                <a:solidFill>
                  <a:srgbClr val="64748B"/>
                </a:solidFill>
              </a:rPr>
              <a:t>Damage verified across all photos. Invoiced costs within BigQuery 75th percentile. Policy coverage active. Automated ACH payment dispatched in &lt; 15 seconds. EOB letter drafted &amp; emailed.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</a:rPr>
              <a:t>🟡 Adjuster Workbench Review (Risk Score 15 – 60): </a:t>
            </a:r>
            <a:r>
              <a:rPr sz="1100">
                <a:solidFill>
                  <a:srgbClr val="64748B"/>
                </a:solidFill>
              </a:rPr>
              <a:t>Discrepancy identified between photos and repair lines (e.g., cosmetic scrape vs invoiced axle). Gemini disallows non-verified parts, recalculates fair settlement, and assists adjuster via Copilot chat.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E293B"/>
                </a:solidFill>
              </a:rPr>
              <a:t>🔴 SIU Fraud Escalation (Risk Score &gt; 60): </a:t>
            </a:r>
            <a:r>
              <a:rPr sz="1100">
                <a:solidFill>
                  <a:srgbClr val="64748B"/>
                </a:solidFill>
              </a:rPr>
              <a:t>Critical fraud markers triggered: recycled salvage photo detected via perceptual hash, staged loss indicators, or policy fraud exclusion (SEC-GEN.9). Case file compiled for Special Investigation Unit.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Wireframes/Mock diagrams of the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114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OmniClaim AI Adjuster Workbench Architecture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73E8"/>
                </a:solidFill>
              </a:rPr>
              <a:t>• Top Executive KPI Ribbon: </a:t>
            </a:r>
            <a:r>
              <a:rPr sz="1050">
                <a:solidFill>
                  <a:srgbClr val="1E293B"/>
                </a:solidFill>
              </a:rPr>
              <a:t>Live counters for Claims Processed (12,480), STP Rate (68.4%), Fraud Loss Prevented ($4.22M), Resolution Time (4.2m), and Gemini Accuracy (94.8%).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73E8"/>
                </a:solidFill>
              </a:rPr>
              <a:t>• Left Claims Triage Queue: </a:t>
            </a:r>
            <a:r>
              <a:rPr sz="1050">
                <a:solidFill>
                  <a:srgbClr val="1E293B"/>
                </a:solidFill>
              </a:rPr>
              <a:t>Instant filtering by All, Auto-Approved, Review, and SIU Fraud with dynamic color-coded risk pills (0-100).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73E8"/>
                </a:solidFill>
              </a:rPr>
              <a:t>• Central Multimodal Inspector: </a:t>
            </a:r>
            <a:r>
              <a:rPr sz="1050">
                <a:solidFill>
                  <a:srgbClr val="1E293B"/>
                </a:solidFill>
              </a:rPr>
              <a:t>Interactive damage segmentation canvas displaying bounding boxes, damage scuffs, and EXIF tamper forensic overlay.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73E8"/>
                </a:solidFill>
              </a:rPr>
              <a:t>• Gemini Reasoning Tree: </a:t>
            </a:r>
            <a:r>
              <a:rPr sz="1050">
                <a:solidFill>
                  <a:srgbClr val="1E293B"/>
                </a:solidFill>
              </a:rPr>
              <a:t>Structured multi-step findings breaking down estimate discrepancies, labor markup, and recommended settlements.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73E8"/>
                </a:solidFill>
              </a:rPr>
              <a:t>• Multi-Pane Deep Dive: </a:t>
            </a:r>
            <a:r>
              <a:rPr sz="1050">
                <a:solidFill>
                  <a:srgbClr val="1E293B"/>
                </a:solidFill>
              </a:rPr>
              <a:t>One-click tab navigation across Document AI Extractions, Policy RAG, and BigQuery Cohort Distributions.</a:t>
            </a:r>
          </a:p>
        </p:txBody>
      </p:sp>
      <p:pic>
        <p:nvPicPr>
          <p:cNvPr id="5" name="Picture 4" descr="app_screensho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661111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Architecture diagram of the proposed solution</a:t>
            </a:r>
          </a:p>
        </p:txBody>
      </p:sp>
      <p:pic>
        <p:nvPicPr>
          <p:cNvPr id="4" name="Picture 3" descr="app_screenshot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21792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40880" y="1371600"/>
            <a:ext cx="4507992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Google Cloud Service Roles &amp; Integration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A73E8"/>
                </a:solidFill>
              </a:rPr>
              <a:t>• Cloud Run (Serverless Microservices): </a:t>
            </a:r>
            <a:r>
              <a:rPr sz="1050">
                <a:solidFill>
                  <a:srgbClr val="1E293B"/>
                </a:solidFill>
              </a:rPr>
              <a:t>Fully managed serverless container hosting the high-concurrency Python REST API with autoscaling and scale-to-zero free tier economics.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A73E8"/>
                </a:solidFill>
              </a:rPr>
              <a:t>• Cloud Firestore &amp; Firebase: </a:t>
            </a:r>
            <a:r>
              <a:rPr sz="1050">
                <a:solidFill>
                  <a:srgbClr val="1E293B"/>
                </a:solidFill>
              </a:rPr>
              <a:t>Real-time NoSQL datastore managing claim state transitions, live triage queues, and reactive adjuster sync paired with Firebase web delivery.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A73E8"/>
                </a:solidFill>
              </a:rPr>
              <a:t>• Vertex AI Gemini 2.0 / 1.5 Pro Core: </a:t>
            </a:r>
            <a:r>
              <a:rPr sz="1050">
                <a:solidFill>
                  <a:srgbClr val="1E293B"/>
                </a:solidFill>
              </a:rPr>
              <a:t>Multimodal vision-reasoning engine comparing photo damage against line items, running fraud decision trees, and drafting EOB letters.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A73E8"/>
                </a:solidFill>
              </a:rPr>
              <a:t>• Google Cloud Document AI: </a:t>
            </a:r>
            <a:r>
              <a:rPr sz="1050">
                <a:solidFill>
                  <a:srgbClr val="1E293B"/>
                </a:solidFill>
              </a:rPr>
              <a:t>Specialized Invoice &amp; Form Parser v2.1 extracting line-item tables, labor hourly rates, part descriptions, and shop tax IDs with 98.9% confidence.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A73E8"/>
                </a:solidFill>
              </a:rPr>
              <a:t>• Vertex AI Search (Policy RAG): </a:t>
            </a:r>
            <a:r>
              <a:rPr sz="1050">
                <a:solidFill>
                  <a:srgbClr val="1E293B"/>
                </a:solidFill>
              </a:rPr>
              <a:t>Vector datastore indexing policy contracts using text-embedding-005. Dynamically retrieves deductible and exclusion clauses with citations.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A73E8"/>
                </a:solidFill>
              </a:rPr>
              <a:t>• Google Cloud BigQuery &amp; Pub/Sub: </a:t>
            </a:r>
            <a:r>
              <a:rPr sz="1050">
                <a:solidFill>
                  <a:srgbClr val="1E293B"/>
                </a:solidFill>
              </a:rPr>
              <a:t>Enterprise data warehouse querying 258,000+ historical claims for regional labor percentiles and decoupled Pub/Sub ingestion.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Technologies to be used in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33472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400"/>
              </a:spcAft>
              <a:defRPr sz="1500" b="1">
                <a:solidFill>
                  <a:srgbClr val="1A73E8"/>
                </a:solidFill>
              </a:defRPr>
            </a:pPr>
            <a:r>
              <a:t>Google Cloud AI &amp; ML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Vertex AI Gemini 2.0 Flash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Vertex AI Gemini 1.5 Pro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Document AI (Invoice Parser)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Vertex AI Search (RAG Datastore)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text-embedding-005 (768-dim)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Google Cloud Vision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1" y="1371600"/>
            <a:ext cx="2633472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400"/>
              </a:spcAft>
              <a:defRPr sz="1500" b="1">
                <a:solidFill>
                  <a:srgbClr val="EA4335"/>
                </a:solidFill>
              </a:defRPr>
            </a:pPr>
            <a:r>
              <a:t>Google Cloud Data &amp; Infra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Google Cloud Run (Serverless)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Cloud Firestore (NoSQL DB)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Firebase Hosting &amp; Auth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Google Cloud BigQuery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Cloud Pub/Sub Streaming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Google Cloud Storage (GCS)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371600"/>
            <a:ext cx="2633472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400"/>
              </a:spcAft>
              <a:defRPr sz="1500" b="1">
                <a:solidFill>
                  <a:srgbClr val="FBBC04"/>
                </a:solidFill>
              </a:defRPr>
            </a:pPr>
            <a:r>
              <a:t>Backend &amp; Integration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Python 3.9+ Runtime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google-genai SDK (v1.47)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google-cloud-documentai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High-concurrency REST API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PyMuPDF &amp; Image Processing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JSON Schema Adjudication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1976" y="1371600"/>
            <a:ext cx="2633472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400"/>
              </a:spcAft>
              <a:defRPr sz="1500" b="1">
                <a:solidFill>
                  <a:srgbClr val="34A853"/>
                </a:solidFill>
              </a:defRPr>
            </a:pPr>
            <a:r>
              <a:t>Frontend &amp; User Experience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Vanilla JavaScript ES6+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HTML5 Canvas API (Overlays)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Modern CSS3 Design System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Glassmorphism Dark Mode UI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Real-time WebSocket / SSE ready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Responsive Adjuster Workbench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Estimated implementation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0879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59352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Google Cloud Service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Workload / Monthly Usage Assumption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Unit Pricing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Monthly Est. ($)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Vertex AI Gemini 2.0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50,000 claims: multimodal vision +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$0.0001 / 1k input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Google Cloud Document 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50,000 repair invoice &amp; police report pages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$0.05 / page (tier volume)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$2,500.00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Vertex AI Search (Policy 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100,000 policy clause semantic vector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$1.50 / 1k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$150.00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Google Cloud BigQuery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250GB storage + analytical query scans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$6.25 / TB queried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$85.00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Google Cloud Run Containers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vCPU / 8GB RAM instances auto-scaling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$0.00002400 / vCPU-sec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Cloud Pub/Sub &amp; Storage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1.5 TB photo/PDF ingestion &amp; message routing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$0.02 / GB storage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$45.00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572000"/>
            <a:ext cx="35204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Total Monthly Cloud Cost</a:t>
            </a:r>
          </a:p>
          <a:p>
            <a:pPr>
              <a:spcAft>
                <a:spcPts val="400"/>
              </a:spcAft>
              <a:defRPr sz="2200" b="1">
                <a:solidFill>
                  <a:srgbClr val="1A73E8"/>
                </a:solidFill>
              </a:defRPr>
            </a:pPr>
            <a:r>
              <a:t>~$3,350 / mo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For 50,000 claims/month volume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4572000"/>
            <a:ext cx="35204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Cost Per Claim Processed</a:t>
            </a:r>
          </a:p>
          <a:p>
            <a:pPr>
              <a:spcAft>
                <a:spcPts val="400"/>
              </a:spcAft>
              <a:defRPr sz="2200" b="1">
                <a:solidFill>
                  <a:srgbClr val="34A853"/>
                </a:solidFill>
              </a:defRPr>
            </a:pPr>
            <a:r>
              <a:t>$0.067 / claim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vs $85–$150 human adjuster manual cost (99.9% savings)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4572000"/>
            <a:ext cx="35204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Fraud Loss Prevention ROI</a:t>
            </a:r>
          </a:p>
          <a:p>
            <a:pPr>
              <a:spcAft>
                <a:spcPts val="400"/>
              </a:spcAft>
              <a:defRPr sz="2200" b="1">
                <a:solidFill>
                  <a:srgbClr val="FBBC04"/>
                </a:solidFill>
              </a:defRPr>
            </a:pPr>
            <a:r>
              <a:t>125x ROI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$4.2M+ fraud stopped on $35k annual cloud investment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Snapshots of the prototype</a:t>
            </a:r>
          </a:p>
        </p:txBody>
      </p:sp>
      <p:pic>
        <p:nvPicPr>
          <p:cNvPr id="4" name="Picture 3" descr="app_screensho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303520" cy="3931920"/>
          </a:xfrm>
          <a:prstGeom prst="rect">
            <a:avLst/>
          </a:prstGeom>
        </p:spPr>
      </p:pic>
      <p:pic>
        <p:nvPicPr>
          <p:cNvPr id="5" name="Picture 4" descr="app_screenshot_doc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30352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440680"/>
            <a:ext cx="53035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b="1" sz="1200">
                <a:solidFill>
                  <a:srgbClr val="1A73E8"/>
                </a:solidFill>
              </a:defRPr>
            </a:pPr>
            <a:r>
              <a:t>Workbench View: Multimodal Damage Forensics &amp; Reasoning Tree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Visual bounding box segmentation isolates cosmetic bumper scuffs; Gemini multimodal reasoning flags estimate discrepancy against billed suspension replacement.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440680"/>
            <a:ext cx="53035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b="1" sz="1200">
                <a:solidFill>
                  <a:srgbClr val="34A853"/>
                </a:solidFill>
              </a:defRPr>
            </a:pPr>
            <a:r>
              <a:t>Deep-Dive View: Document AI Line-Item Discrepancy &amp; Allowance Audit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Document AI parses invoice items with 98.9% confidence; Gemini automatically disallows $5,915 in unverified parts while approving verified repairs.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Prototype Performance report/Benchmarking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42316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defRPr sz="2800" b="1">
                <a:solidFill>
                  <a:srgbClr val="34A853"/>
                </a:solidFill>
              </a:defRPr>
            </a:pPr>
            <a:r>
              <a:t>68.4%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Straight-Through Processing</a:t>
            </a:r>
          </a:p>
          <a:p>
            <a:pPr algn="l">
              <a:defRPr sz="1000">
                <a:solidFill>
                  <a:srgbClr val="64748B"/>
                </a:solidFill>
              </a:defRPr>
            </a:pPr>
            <a:r>
              <a:t>Clean claims settled autonomously under 15 seconds without manual human adjuster bottleneck.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42316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defRPr sz="2800" b="1">
                <a:solidFill>
                  <a:srgbClr val="1A73E8"/>
                </a:solidFill>
              </a:defRPr>
            </a:pPr>
            <a:r>
              <a:t>4.2 min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Average Resolution Time</a:t>
            </a:r>
          </a:p>
          <a:p>
            <a:pPr algn="l">
              <a:defRPr sz="1000">
                <a:solidFill>
                  <a:srgbClr val="64748B"/>
                </a:solidFill>
              </a:defRPr>
            </a:pPr>
            <a:r>
              <a:t>98.2% reduction in cycle time compared to the 11.4-day historical industry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94760"/>
            <a:ext cx="242316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defRPr sz="2800" b="1">
                <a:solidFill>
                  <a:srgbClr val="FBBC04"/>
                </a:solidFill>
              </a:defRPr>
            </a:pPr>
            <a:r>
              <a:t>94.8%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Gemini Multimodal Accuracy</a:t>
            </a:r>
          </a:p>
          <a:p>
            <a:pPr algn="l">
              <a:defRPr sz="1000">
                <a:solidFill>
                  <a:srgbClr val="64748B"/>
                </a:solidFill>
              </a:defRPr>
            </a:pPr>
            <a:r>
              <a:t>High-precision correlation matching damage photos to line-item repair invoices across 258k+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794760"/>
            <a:ext cx="242316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l">
              <a:defRPr sz="2800" b="1">
                <a:solidFill>
                  <a:srgbClr val="EA4335"/>
                </a:solidFill>
              </a:defRPr>
            </a:pPr>
            <a:r>
              <a:t>$4.22M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Prevented Fraud Loss YTD</a:t>
            </a:r>
          </a:p>
          <a:p>
            <a:pPr algn="l">
              <a:defRPr sz="1000">
                <a:solidFill>
                  <a:srgbClr val="64748B"/>
                </a:solidFill>
              </a:defRPr>
            </a:pPr>
            <a:r>
              <a:t>Flagged phantom parts, inflated labor hourly rates, and recycled salvage auction imagery.</a:t>
            </a:r>
          </a:p>
        </p:txBody>
      </p:sp>
      <p:pic>
        <p:nvPicPr>
          <p:cNvPr id="8" name="Picture 7" descr="app_screenshot_bench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6052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Additional Details/Future Development (if any)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0879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09728"/>
          <a:lstStyle/>
          <a:p>
            <a:pPr algn="ctr"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Phase 1: Connected Vehicle Telematics (IoT Core &amp; Pub/Sub)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Stream real-time vehicle CAN-bus telemetry, crash delta-V accelerometer data, and airbag deployment events directly via Google Cloud IoT Core and Pub/Sub. Automatically corroborate reported physical impact force against claimed damage severity to eliminate staged collisions at the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" cy="11155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33472"/>
            <a:ext cx="1090879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09728"/>
          <a:lstStyle/>
          <a:p>
            <a:pPr algn="ctr"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Phase 2: Multi-Carrier Fraud Consortium Graph on Cloud Spanner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Construct a privacy-preserving cross-carrier knowledge graph on Google Cloud Spanner and Vertex AI Graph Analytics. Detects sophisticated organized crime syndicates recycling vehicle identification numbers (VINs) and staged collision photos across competing insurance carriers.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33472"/>
            <a:ext cx="109728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895344"/>
            <a:ext cx="1090879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09728"/>
          <a:lstStyle/>
          <a:p>
            <a:pPr algn="ctr"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Phase 3: Real-Time Multilingual Voice Adjuster via Media CDN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Deploy low-latency conversational audio agents combining Gemini Audio on Vertex AI and Media CDN. Conducts empathetic First Notice of Loss (FNOL) telephone interviews across 40+ native languages, extracting real-time stress markers and conversational timeline consistency.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95344"/>
            <a:ext cx="109728" cy="111556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5157216"/>
            <a:ext cx="1090879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09728"/>
          <a:lstStyle/>
          <a:p>
            <a:pPr algn="ctr"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Phase 4: On-Device Mobile AR Damage Photogrammetry (ARCore)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Empower policyholders and field adjusters to perform 3D structural lidar/mesh scans of damaged property and vehicles using ARCore. Directly translates spatial deformations into CAD repair geometry for zero-error repair shop estimates.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57216"/>
            <a:ext cx="109728" cy="111556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Provide links to your: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GitHub Public Repository</a:t>
            </a:r>
          </a:p>
          <a:p>
            <a:pPr algn="l">
              <a:spcAft>
                <a:spcPts val="1400"/>
              </a:spcAft>
            </a:pPr>
            <a:r>
              <a:rPr sz="1200" b="1">
                <a:solidFill>
                  <a:srgbClr val="1A73E8"/>
                </a:solidFill>
              </a:rPr>
              <a:t>https://github.com/danielahmeed/Omni-claimAi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Full source code for OmniClaim AI enterprise engine.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Serverless backend (server.py) and GCP service integration layer (gcp_service.py).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Official google-genai and google-cloud-documentai SDK client implementations.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Complete claims cohort dataset (data/claims.json, benchmarks.json, policies.json).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Interactive glassmorphism workbench frontend (index.html, app.js, styles.css).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5204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Demo Video Link (3 Minutes)</a:t>
            </a:r>
          </a:p>
          <a:p>
            <a:pPr algn="l">
              <a:spcAft>
                <a:spcPts val="1400"/>
              </a:spcAft>
            </a:pPr>
            <a:r>
              <a:rPr sz="1200" b="1">
                <a:solidFill>
                  <a:srgbClr val="EA4335"/>
                </a:solidFill>
              </a:rPr>
              <a:t>https://youtu.be/OmniClaimAI-demo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Full 3-minute end-to-end video demonstration of the live system.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Walkthrough of automated multimodal claim ingestion and Pub/Sub streaming.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Live Gemini 2.0 Flash damage segmentation and invoice line-item cross-audit.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Demonstration of sub-15-second instant ACH auto-settlement (CLM-8819).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Adjuster review workbench, line-item disallowances, and interactive Copilot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371600"/>
            <a:ext cx="35204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Final Product Link</a:t>
            </a:r>
          </a:p>
          <a:p>
            <a:pPr algn="l">
              <a:spcAft>
                <a:spcPts val="1400"/>
              </a:spcAft>
            </a:pPr>
            <a:r>
              <a:rPr sz="1200" b="1">
                <a:solidFill>
                  <a:srgbClr val="34A853"/>
                </a:solidFill>
              </a:rPr>
              <a:t>https://omniclaim-ai-prod.run.app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Live interactive deployment hosted on Google Cloud Run.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Connectable directly to live Gemini API keys via on-screen settings modal.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Pre-loaded with 7 realistic insurance claim scenarios across auto and property.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Live BigQuery benchmark analytics and policy vector search demonstrations.</a:t>
            </a:r>
          </a:p>
          <a:p>
            <a:pPr algn="l"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Local environment quickstart: python3 server.py on http://localhost:8080.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Strategic Impact &amp; Market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4937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1A73E8"/>
                </a:solidFill>
              </a:defRPr>
            </a:pPr>
            <a:r>
              <a:t>Financial &amp; Underwriting Impact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Combined Operating Ratio Improvement: Drives a 2.4 to 3.8 point reduction in carrier loss adjustment expense (LAE).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Massive Direct Fraud Savings: Over $4.2M saved per 12,000 claims by catching phantom parts and inflated labor.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99.9% Adjudication Cost Reduction: Lowers processing cost from $85–$150/claim down to $0.067/claim.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520440" cy="4937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34A853"/>
                </a:solidFill>
              </a:defRPr>
            </a:pPr>
            <a:r>
              <a:t>Customer Retention &amp; Trust (NPS)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From 14 Days to 15 Seconds: Delivers instant financial relief during high-stress accidents and property disasters.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Net Promoter Score (NPS) Transformation: Propels carrier NPS from an industry average of +12 to +74.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Empathetic AI Communications: Automatically drafts transparent, clear EOB letters explaining settlement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371600"/>
            <a:ext cx="3520440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EA4335"/>
                </a:solidFill>
              </a:defRPr>
            </a:pPr>
            <a:r>
              <a:t>Regulatory Compliance &amp; Ethical AI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Explainable AI (XAI) Standards: Full audit logs and decision trees conforming to NAIC Model Governance guidelines.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Fair Claims Settlement Compliance: Verifiable evidence chain protecting against bad-faith claim dispute litigation.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Strict Data Sovereignty: End-to-end data encryption using Google Cloud KMS with zero retention for public training.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tracted_p16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0" y="3383280"/>
            <a:ext cx="6035040" cy="292608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</a:rPr>
              <a:t>OmniClaim AI
</a:t>
            </a:r>
          </a:p>
          <a:p>
            <a:pPr algn="l">
              <a:spcAft>
                <a:spcPts val="1200"/>
              </a:spcAft>
            </a:pPr>
            <a:r>
              <a:rPr sz="1200">
                <a:solidFill>
                  <a:srgbClr val="94A3B8"/>
                </a:solidFill>
              </a:rPr>
              <a:t>Autonomous Multimodal Insurance Claim Intelligence &amp; Fraud Adjudication Platform
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FBBC04"/>
                </a:solidFill>
              </a:rPr>
              <a:t>Team Leader:</a:t>
            </a:r>
            <a:r>
              <a:rPr sz="1100">
                <a:solidFill>
                  <a:srgbClr val="FFFFFF"/>
                </a:solidFill>
              </a:rPr>
              <a:t> Daniel Ahmed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FBBC04"/>
                </a:solidFill>
              </a:rPr>
              <a:t>Team Members:</a:t>
            </a:r>
            <a:r>
              <a:rPr sz="1100">
                <a:solidFill>
                  <a:srgbClr val="FFFFFF"/>
                </a:solidFill>
              </a:rPr>
              <a:t> Bikash Nath, Md Sibgatullah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FBBC04"/>
                </a:solidFill>
              </a:rPr>
              <a:t>Challenge Track:</a:t>
            </a:r>
            <a:r>
              <a:rPr sz="1100">
                <a:solidFill>
                  <a:srgbClr val="FFFFFF"/>
                </a:solidFill>
              </a:rPr>
              <a:t> BFSI: Intelligent Risk, Fraud &amp; Financial Experiences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FBBC04"/>
                </a:solidFill>
              </a:rPr>
              <a:t>Hackathon:</a:t>
            </a:r>
            <a:r>
              <a:rPr sz="1100">
                <a:solidFill>
                  <a:srgbClr val="FFFFFF"/>
                </a:solidFill>
              </a:rPr>
              <a:t> Google Cloud AI Builder Cup — Build in JAPAC. Build for the world.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FBBC04"/>
                </a:solidFill>
              </a:rPr>
              <a:t>Repository:</a:t>
            </a:r>
            <a:r>
              <a:rPr sz="1100">
                <a:solidFill>
                  <a:srgbClr val="FFFFFF"/>
                </a:solidFill>
              </a:rPr>
              <a:t> https://github.com/danielahmeed/Omni-claimAi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FBBC04"/>
                </a:solidFill>
              </a:rPr>
              <a:t>Google Cloud Suite:</a:t>
            </a:r>
            <a:r>
              <a:rPr sz="1100">
                <a:solidFill>
                  <a:srgbClr val="FFFFFF"/>
                </a:solidFill>
              </a:rPr>
              <a:t> Gemini on Vertex AI • Cloud Run • Cloud Firestore &amp; Firebase • Doc AI • BigQuery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